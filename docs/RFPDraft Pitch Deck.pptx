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4406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A4F8A">
              <a:alpha val="40000"/>
            </a:srgbClr>
          </a:solidFill>
          <a:ln w="12700">
            <a:solidFill>
              <a:srgbClr val="2E6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48640"/>
            <a:ext cx="2194560" cy="329184"/>
          </a:xfrm>
          <a:prstGeom prst="roundRect">
            <a:avLst>
              <a:gd name="adj" fmla="val 27778"/>
            </a:avLst>
          </a:prstGeom>
          <a:solidFill>
            <a:srgbClr val="C4922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86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· ENTERPRISE SALES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" y="10515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RFPDraft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594360" y="20116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 More RFPs. In Hours, Not Weeks.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94360" y="2606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RFP Response Assistant for Enterprise Sales Teams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" y="3108960"/>
            <a:ext cx="4572000" cy="0"/>
          </a:xfrm>
          <a:prstGeom prst="line">
            <a:avLst/>
          </a:prstGeom>
          <a:noFill/>
          <a:ln w="12700">
            <a:solidFill>
              <a:srgbClr val="C4922A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246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9436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23160" y="3246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40hrs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242316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Saved/RFP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51960" y="3246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425196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RFPs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914400"/>
            <a:ext cx="2560320" cy="3474720"/>
          </a:xfrm>
          <a:prstGeom prst="rect">
            <a:avLst/>
          </a:prstGeom>
          <a:solidFill>
            <a:srgbClr val="1A4F8A">
              <a:alpha val="70000"/>
            </a:srgbClr>
          </a:solidFill>
          <a:ln w="12700">
            <a:solidFill>
              <a:srgbClr val="2E6FB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1051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RFPDraft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1463040"/>
            <a:ext cx="2286000" cy="0"/>
          </a:xfrm>
          <a:prstGeom prst="line">
            <a:avLst/>
          </a:prstGeom>
          <a:noFill/>
          <a:ln w="6350">
            <a:solidFill>
              <a:srgbClr val="2E6F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1554480"/>
            <a:ext cx="2468880" cy="411480"/>
          </a:xfrm>
          <a:prstGeom prst="rect">
            <a:avLst/>
          </a:prstGeom>
          <a:solidFill>
            <a:srgbClr val="0A2040"/>
          </a:solidFill>
          <a:ln w="6350">
            <a:solidFill>
              <a:srgbClr val="2E6FBF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157276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Q.42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729984" y="15727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SOC 2 compliance...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263640" y="2057400"/>
            <a:ext cx="2468880" cy="411480"/>
          </a:xfrm>
          <a:prstGeom prst="rect">
            <a:avLst/>
          </a:prstGeom>
          <a:solidFill>
            <a:srgbClr val="2E6FBF">
              <a:alpha val="80000"/>
            </a:srgbClr>
          </a:solidFill>
          <a:ln w="6350">
            <a:solidFill>
              <a:srgbClr val="C4922A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20756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729984" y="20756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 is SOC 2 Type II certified...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263640" y="2560320"/>
            <a:ext cx="2468880" cy="411480"/>
          </a:xfrm>
          <a:prstGeom prst="rect">
            <a:avLst/>
          </a:prstGeom>
          <a:solidFill>
            <a:srgbClr val="0A2040"/>
          </a:solidFill>
          <a:ln w="6350">
            <a:solidFill>
              <a:srgbClr val="2E6FBF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257860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Q.43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729984" y="25786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your data residency options...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263640" y="3063240"/>
            <a:ext cx="2468880" cy="411480"/>
          </a:xfrm>
          <a:prstGeom prst="rect">
            <a:avLst/>
          </a:prstGeom>
          <a:solidFill>
            <a:srgbClr val="2E6FBF">
              <a:alpha val="80000"/>
            </a:srgbClr>
          </a:solidFill>
          <a:ln w="6350">
            <a:solidFill>
              <a:srgbClr val="C4922A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308152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729984" y="30815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support EU, US, and India regions...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50392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RFPs are killing your sales bandwidth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743200" cy="54864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55448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Lost per RFP response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578608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best salespeople spend entire weeks on paperwork instead of building pipeline and closing deals.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61772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29000" y="2148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enterprise RFP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578608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already exist in your docs and past submissions — but are buried where no one can find them fast.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749808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09360" y="2148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RFPs go unanswered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2578608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skip viable opportunities simply because they don't have the bandwidth to respond in time.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49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that knows your business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writes your RFPs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knowledge. Let AI do the drafting. Your team reviews and wins.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37360" y="2542032"/>
            <a:ext cx="338328" cy="0"/>
          </a:xfrm>
          <a:prstGeom prst="line">
            <a:avLst/>
          </a:prstGeom>
          <a:noFill/>
          <a:ln w="19050">
            <a:solidFill>
              <a:srgbClr val="C4922A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240280"/>
            <a:ext cx="1371600" cy="2606040"/>
          </a:xfrm>
          <a:prstGeom prst="rect">
            <a:avLst/>
          </a:prstGeom>
          <a:solidFill>
            <a:srgbClr val="1A4F8A">
              <a:alpha val="80000"/>
            </a:srgbClr>
          </a:solidFill>
          <a:ln w="6350">
            <a:solidFill>
              <a:srgbClr val="2E6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31720"/>
            <a:ext cx="548640" cy="548640"/>
          </a:xfrm>
          <a:prstGeom prst="ellipse">
            <a:avLst/>
          </a:prstGeom>
          <a:solidFill>
            <a:srgbClr val="0D2B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97180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35844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Docs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65760" y="3977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RFPs, proposals, certs, case studies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447288" y="2542032"/>
            <a:ext cx="338328" cy="0"/>
          </a:xfrm>
          <a:prstGeom prst="line">
            <a:avLst/>
          </a:prstGeom>
          <a:noFill/>
          <a:ln w="19050">
            <a:solidFill>
              <a:srgbClr val="C4922A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29968" y="2240280"/>
            <a:ext cx="1371600" cy="2606040"/>
          </a:xfrm>
          <a:prstGeom prst="rect">
            <a:avLst/>
          </a:prstGeom>
          <a:solidFill>
            <a:srgbClr val="1A4F8A">
              <a:alpha val="80000"/>
            </a:srgbClr>
          </a:solidFill>
          <a:ln w="6350">
            <a:solidFill>
              <a:srgbClr val="2E6FB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41448" y="2331720"/>
            <a:ext cx="548640" cy="548640"/>
          </a:xfrm>
          <a:prstGeom prst="ellipse">
            <a:avLst/>
          </a:prstGeom>
          <a:solidFill>
            <a:srgbClr val="0D2B5E"/>
          </a:solidFill>
          <a:ln/>
        </p:spPr>
      </p:sp>
      <p:sp>
        <p:nvSpPr>
          <p:cNvPr id="16" name="Text 13"/>
          <p:cNvSpPr/>
          <p:nvPr/>
        </p:nvSpPr>
        <p:spPr>
          <a:xfrm>
            <a:off x="2441448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297180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75688" y="35844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Knowledge Base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075688" y="3977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indexes your content privately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157216" y="2542032"/>
            <a:ext cx="338328" cy="0"/>
          </a:xfrm>
          <a:prstGeom prst="line">
            <a:avLst/>
          </a:prstGeom>
          <a:noFill/>
          <a:ln w="19050">
            <a:solidFill>
              <a:srgbClr val="C4922A">
                <a:alpha val="5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739896" y="2240280"/>
            <a:ext cx="1371600" cy="2606040"/>
          </a:xfrm>
          <a:prstGeom prst="rect">
            <a:avLst/>
          </a:prstGeom>
          <a:solidFill>
            <a:srgbClr val="1A4F8A">
              <a:alpha val="80000"/>
            </a:srgbClr>
          </a:solidFill>
          <a:ln w="6350">
            <a:solidFill>
              <a:srgbClr val="2E6FB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151376" y="2331720"/>
            <a:ext cx="548640" cy="548640"/>
          </a:xfrm>
          <a:prstGeom prst="ellipse">
            <a:avLst/>
          </a:prstGeom>
          <a:solidFill>
            <a:srgbClr val="0D2B5E"/>
          </a:solidFill>
          <a:ln/>
        </p:spPr>
      </p:sp>
      <p:sp>
        <p:nvSpPr>
          <p:cNvPr id="23" name="Text 19"/>
          <p:cNvSpPr/>
          <p:nvPr/>
        </p:nvSpPr>
        <p:spPr>
          <a:xfrm>
            <a:off x="4151376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376" y="2971800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785616" y="35844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 New RFP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785616" y="3977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format — PDF or Word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6867144" y="2542032"/>
            <a:ext cx="338328" cy="0"/>
          </a:xfrm>
          <a:prstGeom prst="line">
            <a:avLst/>
          </a:prstGeom>
          <a:noFill/>
          <a:ln w="19050">
            <a:solidFill>
              <a:srgbClr val="C4922A">
                <a:alpha val="50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449824" y="2240280"/>
            <a:ext cx="1371600" cy="2606040"/>
          </a:xfrm>
          <a:prstGeom prst="rect">
            <a:avLst/>
          </a:prstGeom>
          <a:solidFill>
            <a:srgbClr val="1A4F8A">
              <a:alpha val="80000"/>
            </a:srgbClr>
          </a:solidFill>
          <a:ln w="6350">
            <a:solidFill>
              <a:srgbClr val="2E6FB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861304" y="2331720"/>
            <a:ext cx="548640" cy="548640"/>
          </a:xfrm>
          <a:prstGeom prst="ellipse">
            <a:avLst/>
          </a:prstGeom>
          <a:solidFill>
            <a:srgbClr val="0D2B5E"/>
          </a:solidFill>
          <a:ln/>
        </p:spPr>
      </p:sp>
      <p:sp>
        <p:nvSpPr>
          <p:cNvPr id="30" name="Text 25"/>
          <p:cNvSpPr/>
          <p:nvPr/>
        </p:nvSpPr>
        <p:spPr>
          <a:xfrm>
            <a:off x="5861304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2971800"/>
            <a:ext cx="548640" cy="5486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95544" y="35844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Drafts Answers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5495544" y="3977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 answered with source citations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7159752" y="2240280"/>
            <a:ext cx="1371600" cy="2606040"/>
          </a:xfrm>
          <a:prstGeom prst="rect">
            <a:avLst/>
          </a:prstGeom>
          <a:solidFill>
            <a:srgbClr val="1A4F8A">
              <a:alpha val="80000"/>
            </a:srgbClr>
          </a:solidFill>
          <a:ln w="6350">
            <a:solidFill>
              <a:srgbClr val="2E6FBF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571232" y="2331720"/>
            <a:ext cx="548640" cy="548640"/>
          </a:xfrm>
          <a:prstGeom prst="ellipse">
            <a:avLst/>
          </a:prstGeom>
          <a:solidFill>
            <a:srgbClr val="0D2B5E"/>
          </a:solidFill>
          <a:ln/>
        </p:spPr>
      </p:sp>
      <p:sp>
        <p:nvSpPr>
          <p:cNvPr id="36" name="Text 30"/>
          <p:cNvSpPr/>
          <p:nvPr/>
        </p:nvSpPr>
        <p:spPr>
          <a:xfrm>
            <a:off x="7571232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2971800"/>
            <a:ext cx="548640" cy="5486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205472" y="35844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&amp; Submit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7205472" y="39776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approve, export. Done in hours.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850392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560320" cy="73152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D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$2.3B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94360" y="24871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&amp; Proposal Software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5603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05840"/>
            <a:ext cx="2560320" cy="73152"/>
          </a:xfrm>
          <a:prstGeom prst="rect">
            <a:avLst/>
          </a:prstGeom>
          <a:solidFill>
            <a:srgbClr val="1A4F8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A4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4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$480M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429000" y="24871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&amp; SME SaaS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5603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05840"/>
            <a:ext cx="2560320" cy="73152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49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$48M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263640" y="24871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Target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+ SEA Enterprise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3159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Enterprise RFP software market growing at 14% CAGR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51713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95% of mid-market companies can't afford Loopio or RFPIO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71830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India enterprise market alone = 50,000+ potential customers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0392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49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own the gap nobody else is filling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783080" cy="384048"/>
          </a:xfrm>
          <a:prstGeom prst="rect">
            <a:avLst/>
          </a:prstGeom>
          <a:solidFill>
            <a:srgbClr val="1A4F8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4173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1417320"/>
            <a:ext cx="1600200" cy="384048"/>
          </a:xfrm>
          <a:prstGeom prst="rect">
            <a:avLst/>
          </a:prstGeom>
          <a:solidFill>
            <a:srgbClr val="1A4F8A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417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Cost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1417320"/>
            <a:ext cx="1600200" cy="384048"/>
          </a:xfrm>
          <a:prstGeom prst="rect">
            <a:avLst/>
          </a:prstGeom>
          <a:solidFill>
            <a:srgbClr val="1A4F8A"/>
          </a:solidFill>
          <a:ln/>
        </p:spPr>
      </p:sp>
      <p:sp>
        <p:nvSpPr>
          <p:cNvPr id="10" name="Text 8"/>
          <p:cNvSpPr/>
          <p:nvPr/>
        </p:nvSpPr>
        <p:spPr>
          <a:xfrm>
            <a:off x="3794760" y="14173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40680" y="1417320"/>
            <a:ext cx="1508760" cy="384048"/>
          </a:xfrm>
          <a:prstGeom prst="rect">
            <a:avLst/>
          </a:prstGeom>
          <a:solidFill>
            <a:srgbClr val="1A4F8A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14173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AI-Native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95160" y="1417320"/>
            <a:ext cx="1508760" cy="384048"/>
          </a:xfrm>
          <a:prstGeom prst="rect">
            <a:avLst/>
          </a:prstGeom>
          <a:solidFill>
            <a:srgbClr val="1A4F8A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14173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Mid-Market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1783080" cy="502920"/>
          </a:xfrm>
          <a:prstGeom prst="rect">
            <a:avLst/>
          </a:prstGeom>
          <a:solidFill>
            <a:srgbClr val="0A2040">
              <a:alpha val="90000"/>
            </a:srgbClr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28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48840" y="1828800"/>
            <a:ext cx="1600200" cy="502920"/>
          </a:xfrm>
          <a:prstGeom prst="rect">
            <a:avLst/>
          </a:prstGeom>
          <a:solidFill>
            <a:srgbClr val="0A2040">
              <a:alpha val="90000"/>
            </a:srgbClr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$30K+/yr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94760" y="1828800"/>
            <a:ext cx="1600200" cy="502920"/>
          </a:xfrm>
          <a:prstGeom prst="rect">
            <a:avLst/>
          </a:prstGeom>
          <a:solidFill>
            <a:srgbClr val="0A2040">
              <a:alpha val="90000"/>
            </a:srgbClr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months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40680" y="1828800"/>
            <a:ext cx="1508760" cy="502920"/>
          </a:xfrm>
          <a:prstGeom prst="rect">
            <a:avLst/>
          </a:prstGeom>
          <a:solidFill>
            <a:srgbClr val="0A2040">
              <a:alpha val="90000"/>
            </a:srgbClr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95160" y="1828800"/>
            <a:ext cx="1508760" cy="502920"/>
          </a:xfrm>
          <a:prstGeom prst="rect">
            <a:avLst/>
          </a:prstGeom>
          <a:solidFill>
            <a:srgbClr val="0A2040">
              <a:alpha val="90000"/>
            </a:srgbClr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2395728"/>
            <a:ext cx="1783080" cy="502920"/>
          </a:xfrm>
          <a:prstGeom prst="rect">
            <a:avLst/>
          </a:prstGeom>
          <a:solidFill>
            <a:srgbClr val="0D2B5E">
              <a:alpha val="90000"/>
            </a:srgbClr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3957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48840" y="2395728"/>
            <a:ext cx="1600200" cy="502920"/>
          </a:xfrm>
          <a:prstGeom prst="rect">
            <a:avLst/>
          </a:prstGeom>
          <a:solidFill>
            <a:srgbClr val="0D2B5E">
              <a:alpha val="90000"/>
            </a:srgbClr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23957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$20K+/yr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94760" y="2395728"/>
            <a:ext cx="1600200" cy="502920"/>
          </a:xfrm>
          <a:prstGeom prst="rect">
            <a:avLst/>
          </a:prstGeom>
          <a:solidFill>
            <a:srgbClr val="0D2B5E">
              <a:alpha val="90000"/>
            </a:srgbClr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23957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months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40680" y="2395728"/>
            <a:ext cx="1508760" cy="502920"/>
          </a:xfrm>
          <a:prstGeom prst="rect">
            <a:avLst/>
          </a:prstGeom>
          <a:solidFill>
            <a:srgbClr val="0D2B5E">
              <a:alpha val="90000"/>
            </a:srgbClr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23957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95160" y="2395728"/>
            <a:ext cx="1508760" cy="502920"/>
          </a:xfrm>
          <a:prstGeom prst="rect">
            <a:avLst/>
          </a:prstGeom>
          <a:solidFill>
            <a:srgbClr val="0D2B5E">
              <a:alpha val="90000"/>
            </a:srgbClr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23957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2962656"/>
            <a:ext cx="1783080" cy="502920"/>
          </a:xfrm>
          <a:prstGeom prst="rect">
            <a:avLst/>
          </a:prstGeom>
          <a:solidFill>
            <a:srgbClr val="0A2040">
              <a:alpha val="90000"/>
            </a:srgbClr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96265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Ombud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48840" y="2962656"/>
            <a:ext cx="1600200" cy="502920"/>
          </a:xfrm>
          <a:prstGeom prst="rect">
            <a:avLst/>
          </a:prstGeom>
          <a:solidFill>
            <a:srgbClr val="0A2040">
              <a:alpha val="90000"/>
            </a:srgbClr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48840" y="296265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$15K+/yr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794760" y="2962656"/>
            <a:ext cx="1600200" cy="502920"/>
          </a:xfrm>
          <a:prstGeom prst="rect">
            <a:avLst/>
          </a:prstGeom>
          <a:solidFill>
            <a:srgbClr val="0A2040">
              <a:alpha val="90000"/>
            </a:srgbClr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296265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months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40680" y="2962656"/>
            <a:ext cx="1508760" cy="502920"/>
          </a:xfrm>
          <a:prstGeom prst="rect">
            <a:avLst/>
          </a:prstGeom>
          <a:solidFill>
            <a:srgbClr val="0A2040">
              <a:alpha val="90000"/>
            </a:srgbClr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296265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95160" y="2962656"/>
            <a:ext cx="1508760" cy="502920"/>
          </a:xfrm>
          <a:prstGeom prst="rect">
            <a:avLst/>
          </a:prstGeom>
          <a:solidFill>
            <a:srgbClr val="0A2040">
              <a:alpha val="90000"/>
            </a:srgbClr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296265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0040" y="3529584"/>
            <a:ext cx="1783080" cy="502920"/>
          </a:xfrm>
          <a:prstGeom prst="rect">
            <a:avLst/>
          </a:prstGeom>
          <a:solidFill>
            <a:srgbClr val="C4922A"/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5295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RFPDraft ✦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148840" y="3529584"/>
            <a:ext cx="1600200" cy="502920"/>
          </a:xfrm>
          <a:prstGeom prst="rect">
            <a:avLst/>
          </a:prstGeom>
          <a:solidFill>
            <a:srgbClr val="C4922A"/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48840" y="35295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$3.6K-9.6K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794760" y="3529584"/>
            <a:ext cx="1600200" cy="502920"/>
          </a:xfrm>
          <a:prstGeom prst="rect">
            <a:avLst/>
          </a:prstGeom>
          <a:solidFill>
            <a:srgbClr val="C4922A"/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94760" y="35295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440680" y="3529584"/>
            <a:ext cx="1508760" cy="502920"/>
          </a:xfrm>
          <a:prstGeom prst="rect">
            <a:avLst/>
          </a:prstGeom>
          <a:solidFill>
            <a:srgbClr val="C4922A"/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0680" y="352958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995160" y="3529584"/>
            <a:ext cx="1508760" cy="502920"/>
          </a:xfrm>
          <a:prstGeom prst="rect">
            <a:avLst/>
          </a:prstGeom>
          <a:solidFill>
            <a:srgbClr val="C4922A"/>
          </a:solidFill>
          <a:ln w="3810">
            <a:solidFill>
              <a:srgbClr val="2E6FBF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95160" y="352958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6576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RFPDraft is the only AI-native solution built for mid-market enterprise at an accessible price point.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50392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457200"/>
          </a:xfrm>
          <a:prstGeom prst="rect">
            <a:avLst/>
          </a:prstGeom>
          <a:solidFill>
            <a:srgbClr val="1A4F8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4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$299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786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RFPs/mo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735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drafting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6517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492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05840"/>
            <a:ext cx="2651760" cy="457200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15087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$799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200400" y="2240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5786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20 users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9260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RFPs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2735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drafting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6210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Collaboration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100584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005840"/>
            <a:ext cx="2651760" cy="45720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5040" y="15087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035040" y="2240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5786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29260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+ Integrations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2735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drafting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solidFill>
            <a:srgbClr val="0D2B5E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Growth customers = $7,990 MRR from Day 1  |  100 customers = $79,900 MRR  |  Target: 500 customers by Year 2 = ~$400K MRR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49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it before we build 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0" cy="3474720"/>
          </a:xfrm>
          <a:prstGeom prst="rect">
            <a:avLst/>
          </a:prstGeom>
          <a:solidFill>
            <a:srgbClr val="0A1F40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2743200" cy="73152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49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578608"/>
            <a:ext cx="2194560" cy="0"/>
          </a:xfrm>
          <a:prstGeom prst="line">
            <a:avLst/>
          </a:prstGeom>
          <a:noFill/>
          <a:ln w="6350">
            <a:solidFill>
              <a:srgbClr val="C4922A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157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Talk to 20 enterprise sales leaders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1912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Manual RFP service to test willingness to pay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66674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waitlist of 200+ signups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743200" cy="3474720"/>
          </a:xfrm>
          <a:prstGeom prst="rect">
            <a:avLst/>
          </a:prstGeom>
          <a:solidFill>
            <a:srgbClr val="0A1F40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1A4F8A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A4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0" y="17373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0040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2-4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2578608"/>
            <a:ext cx="2194560" cy="0"/>
          </a:xfrm>
          <a:prstGeom prst="line">
            <a:avLst/>
          </a:prstGeom>
          <a:noFill/>
          <a:ln w="6350">
            <a:solidFill>
              <a:srgbClr val="1A4F8A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7157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MVP with core AI drafting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1912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 beta customers at $0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66674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Iterate on feedback weekly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1371600"/>
            <a:ext cx="2743200" cy="3474720"/>
          </a:xfrm>
          <a:prstGeom prst="rect">
            <a:avLst/>
          </a:prstGeom>
          <a:solidFill>
            <a:srgbClr val="0A1F40"/>
          </a:solidFill>
          <a:ln w="12700">
            <a:solidFill>
              <a:srgbClr val="2E6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1371600"/>
            <a:ext cx="2743200" cy="73152"/>
          </a:xfrm>
          <a:prstGeom prst="rect">
            <a:avLst/>
          </a:prstGeom>
          <a:solidFill>
            <a:srgbClr val="2E6FBF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2E6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80760" y="17373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8076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4+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2578608"/>
            <a:ext cx="2194560" cy="0"/>
          </a:xfrm>
          <a:prstGeom prst="line">
            <a:avLst/>
          </a:prstGeom>
          <a:noFill/>
          <a:ln w="6350">
            <a:solidFill>
              <a:srgbClr val="2E6FB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7157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Paid plans go live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1912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LinkedIn + community marketing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66674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Referral program for early adopters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UNFAIR ADVANTAGE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73152" cy="1691640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325880"/>
            <a:ext cx="594360" cy="594360"/>
          </a:xfrm>
          <a:prstGeom prst="ellipse">
            <a:avLst/>
          </a:prstGeom>
          <a:solidFill>
            <a:srgbClr val="EDE9E1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234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the Customer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62763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years of enterprise sales experience. We've personally written hundreds of RFPs and know exactly what wins.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73152" cy="1691640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325880"/>
            <a:ext cx="594360" cy="594360"/>
          </a:xfrm>
          <a:prstGeom prst="ellipse">
            <a:avLst/>
          </a:prstGeom>
          <a:solidFill>
            <a:srgbClr val="EDE9E1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0" y="1234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Network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162763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relationships with enterprise sales leaders across India and APAC who are the exact buyer for this product.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26080"/>
            <a:ext cx="73152" cy="1691640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246120"/>
            <a:ext cx="594360" cy="594360"/>
          </a:xfrm>
          <a:prstGeom prst="ellipse">
            <a:avLst/>
          </a:prstGeom>
          <a:solidFill>
            <a:srgbClr val="EDE9E1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31546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AI-First Architecture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54787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RAG from day one — not a legacy tool with AI bolted on. Smarter answers, faster.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292608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926080"/>
            <a:ext cx="73152" cy="1691640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3246120"/>
            <a:ext cx="594360" cy="594360"/>
          </a:xfrm>
          <a:prstGeom prst="ellipse">
            <a:avLst/>
          </a:prstGeom>
          <a:solidFill>
            <a:srgbClr val="EDE9E1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669280" y="31546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Mover Advantage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0" y="354787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AI-native, affordable competitor exists in the Indian mid-market. We own this space if we move fast.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0392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49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PROJECTIONS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 path to $400K MRR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3880714"/>
            <a:ext cx="731520" cy="51206"/>
          </a:xfrm>
          <a:prstGeom prst="rect">
            <a:avLst/>
          </a:prstGeom>
          <a:solidFill>
            <a:srgbClr val="2E6FB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56067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2793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cust.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3752698"/>
            <a:ext cx="731520" cy="179222"/>
          </a:xfrm>
          <a:prstGeom prst="rect">
            <a:avLst/>
          </a:prstGeom>
          <a:solidFill>
            <a:srgbClr val="2E6FB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343265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4023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42793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cust.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08960" y="3419856"/>
            <a:ext cx="731520" cy="512064"/>
          </a:xfrm>
          <a:prstGeom prst="rect">
            <a:avLst/>
          </a:prstGeom>
          <a:solidFill>
            <a:srgbClr val="2E6FB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17520" y="309981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4023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42793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cust.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2907792"/>
            <a:ext cx="731520" cy="1024128"/>
          </a:xfrm>
          <a:prstGeom prst="rect">
            <a:avLst/>
          </a:prstGeom>
          <a:solidFill>
            <a:srgbClr val="2E6FB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5877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$160K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4023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42793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cust.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1371600"/>
            <a:ext cx="731520" cy="2560320"/>
          </a:xfrm>
          <a:prstGeom prst="rect">
            <a:avLst/>
          </a:prstGeom>
          <a:solidFill>
            <a:srgbClr val="C4922A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94960" y="1051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$400K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4023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42793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cust.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931920"/>
            <a:ext cx="6858000" cy="0"/>
          </a:xfrm>
          <a:prstGeom prst="line">
            <a:avLst/>
          </a:prstGeom>
          <a:noFill/>
          <a:ln w="6350">
            <a:solidFill>
              <a:srgbClr val="8A9BB0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1371600"/>
            <a:ext cx="2286000" cy="777240"/>
          </a:xfrm>
          <a:prstGeom prst="rect">
            <a:avLst/>
          </a:prstGeom>
          <a:solidFill>
            <a:srgbClr val="0A1F40"/>
          </a:solidFill>
          <a:ln w="6350">
            <a:solidFill>
              <a:srgbClr val="2E6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ACV/mo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0" y="2267712"/>
            <a:ext cx="2286000" cy="777240"/>
          </a:xfrm>
          <a:prstGeom prst="rect">
            <a:avLst/>
          </a:prstGeom>
          <a:solidFill>
            <a:srgbClr val="0A1F40"/>
          </a:solidFill>
          <a:ln w="6350">
            <a:solidFill>
              <a:srgbClr val="2E6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2677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3mo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583680" y="2724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83680" y="3163824"/>
            <a:ext cx="2286000" cy="777240"/>
          </a:xfrm>
          <a:prstGeom prst="rect">
            <a:avLst/>
          </a:prstGeom>
          <a:solidFill>
            <a:srgbClr val="0A1F40"/>
          </a:solidFill>
          <a:ln w="6350">
            <a:solidFill>
              <a:srgbClr val="2E6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1638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583680" y="36210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83680" y="4059936"/>
            <a:ext cx="2286000" cy="777240"/>
          </a:xfrm>
          <a:prstGeom prst="rect">
            <a:avLst/>
          </a:prstGeom>
          <a:solidFill>
            <a:srgbClr val="0A1F40"/>
          </a:solidFill>
          <a:ln w="6350">
            <a:solidFill>
              <a:srgbClr val="2E6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40599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$15K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583680" y="45171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Build Cost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50392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828800"/>
            <a:ext cx="3200400" cy="3200400"/>
          </a:xfrm>
          <a:prstGeom prst="ellipse">
            <a:avLst/>
          </a:prstGeom>
          <a:solidFill>
            <a:srgbClr val="1A4F8A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40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This Together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65760" y="16002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RFPDraft is looking for early customers, design partners,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investors who believe AI should make enterprise sales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unstoppable.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2743200" cy="1280160"/>
          </a:xfrm>
          <a:prstGeom prst="rect">
            <a:avLst/>
          </a:prstGeom>
          <a:solidFill>
            <a:srgbClr val="0A1F40"/>
          </a:solidFill>
          <a:ln w="6350">
            <a:solidFill>
              <a:srgbClr val="C4922A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880360"/>
            <a:ext cx="2743200" cy="54864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992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Customers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4015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 free in exchange for feedback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880360"/>
            <a:ext cx="2743200" cy="1280160"/>
          </a:xfrm>
          <a:prstGeom prst="rect">
            <a:avLst/>
          </a:prstGeom>
          <a:solidFill>
            <a:srgbClr val="0A1F40"/>
          </a:solidFill>
          <a:ln w="6350">
            <a:solidFill>
              <a:srgbClr val="C4922A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880360"/>
            <a:ext cx="2743200" cy="54864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29992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Partners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34015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Co-build the roadmap with us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880360"/>
            <a:ext cx="2743200" cy="1280160"/>
          </a:xfrm>
          <a:prstGeom prst="rect">
            <a:avLst/>
          </a:prstGeom>
          <a:solidFill>
            <a:srgbClr val="0A1F40"/>
          </a:solidFill>
          <a:ln w="6350">
            <a:solidFill>
              <a:srgbClr val="C4922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2880360"/>
            <a:ext cx="2743200" cy="54864"/>
          </a:xfrm>
          <a:prstGeom prst="rect">
            <a:avLst/>
          </a:prstGeom>
          <a:solidFill>
            <a:srgbClr val="C4922A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29992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Angel Investors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4015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opening Q3 2025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C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rfpdraft.io  |  hello@rfpdraft.io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03920" y="4846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RFPDraft — Pitch Deck</dc:title>
  <dc:subject>PptxGenJS Presentation</dc:subject>
  <dc:creator>PptxGenJS</dc:creator>
  <cp:lastModifiedBy>PptxGenJS</cp:lastModifiedBy>
  <cp:revision>1</cp:revision>
  <dcterms:created xsi:type="dcterms:W3CDTF">2026-02-21T03:05:54Z</dcterms:created>
  <dcterms:modified xsi:type="dcterms:W3CDTF">2026-02-21T03:05:54Z</dcterms:modified>
</cp:coreProperties>
</file>